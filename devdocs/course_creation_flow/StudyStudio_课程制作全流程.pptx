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StudyStudio 课程制作全流程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从文件上传到学生学习的完整技术链路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CCCCDD"/>
                </a:solidFill>
                <a:latin typeface="Microsoft YaHei"/>
              </a:defRPr>
            </a:pPr>
            <a:r>
              <a:t>10 个自动化阶段 · 全异步事件驱动 · AI + 向量聚类合成</a:t>
            </a:r>
          </a:p>
          <a:p>
            <a:pPr>
              <a:spcAft>
                <a:spcPts val="2000"/>
              </a:spcAft>
              <a:defRPr sz="1600">
                <a:solidFill>
                  <a:srgbClr val="CCCCDD"/>
                </a:solidFill>
                <a:latin typeface="Microsoft YaHei"/>
              </a:defRPr>
            </a:pPr>
            <a:r>
              <a:t>Celery 任务编排 · RabbitMQ 消息队列 · MinIO 对象存储 · PostgreSQL 向量检索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StudyStudio DS  ·  v2.8.0  ·  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全流程总览：10 阶段流水线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文件上传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格式校验</a:t>
            </a:r>
            <a:br/>
            <a:r>
              <a:t>SHA-256 去重</a:t>
            </a:r>
            <a:br/>
            <a:r>
              <a:t>MinIO 存储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28016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26080" y="14173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417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事件调度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96596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RabbitMQ 订阅</a:t>
            </a:r>
            <a:br/>
            <a:r>
              <a:t>→ ingest 队列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28016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57800" y="14173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417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文档解析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6596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PyMuPDF/pdfplumber</a:t>
            </a:r>
            <a:br/>
            <a:r>
              <a:t>分块 + 标准化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128016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19" y="14173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417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知识提取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196596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三步 LLM 流水线</a:t>
            </a:r>
            <a:br/>
            <a:r>
              <a:t>实体识别→分类→关系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28016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21240" y="14173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1417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自动审核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96596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两轮 LLM 评审</a:t>
            </a:r>
            <a:br/>
            <a:r>
              <a:t>approve/reject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BE"/>
                </a:solidFill>
                <a:latin typeface="Microsoft YaHei"/>
              </a:defRPr>
            </a:pPr>
            <a:r>
              <a:t>向量化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Embedding 批量生成</a:t>
            </a:r>
            <a:br/>
            <a:r>
              <a:t>pgvector 存储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88620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80" y="4023360"/>
            <a:ext cx="457200" cy="4572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BE"/>
                </a:solidFill>
                <a:latin typeface="Microsoft YaHei"/>
              </a:defRPr>
            </a:pPr>
            <a:r>
              <a:t>蓝图生成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57200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K-Means 聚类</a:t>
            </a:r>
            <a:br/>
            <a:r>
              <a:t>LLM 章节/内容生成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388620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023360"/>
            <a:ext cx="457200" cy="4572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BE"/>
                </a:solidFill>
                <a:latin typeface="Microsoft YaHei"/>
              </a:defRPr>
            </a:pPr>
            <a:r>
              <a:t>测验预生成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57200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每章自动出题</a:t>
            </a:r>
            <a:br/>
            <a:r>
              <a:t>写入题库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59" y="388620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89519" y="4023360"/>
            <a:ext cx="457200" cy="4572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BE"/>
                </a:solidFill>
                <a:latin typeface="Microsoft YaHei"/>
              </a:defRPr>
            </a:pPr>
            <a:r>
              <a:t>学生学习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39" y="457200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三种阅读模式</a:t>
            </a:r>
            <a:br/>
            <a:r>
              <a:t>测验+反思+笔记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3886200"/>
            <a:ext cx="2103120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21240" y="4023360"/>
            <a:ext cx="457200" cy="4572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BE"/>
                </a:solidFill>
                <a:latin typeface="Microsoft YaHei"/>
              </a:defRPr>
            </a:pPr>
            <a:r>
              <a:t>教师精调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57200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自然语言指令</a:t>
            </a:r>
            <a:br/>
            <a:r>
              <a:t>Layer 2 精调联动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前端 (Vue 3 + 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219456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UploadView → 文件上传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TutorialView → 课程学习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API 客户端封装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5303520"/>
            <a:ext cx="27432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  <a:latin typeface="Microsoft YaHei"/>
              </a:defRPr>
            </a:pPr>
            <a:r>
              <a:t>API 网关 (FastAPI)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920240"/>
            <a:ext cx="219456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REST 端点 +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Depends 依赖注入鉴权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EventBus 事件发布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37759" y="5303520"/>
            <a:ext cx="27432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消息队列 (RabbitMQ)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920240"/>
            <a:ext cx="219456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file_uploaded → 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document_parsed →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蓝图/测验/讨论事件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69480" y="5303520"/>
            <a:ext cx="27432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Celery Workers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19" y="1920240"/>
            <a:ext cx="219456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knowledge 队列：解析+提取+向量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knowledge.review 队列：自动审核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blueprint.synthesis 队列：生成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01199" y="5303520"/>
            <a:ext cx="27432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920240"/>
            <a:ext cx="219456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PostgreSQL + pgvector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MinIO 对象存储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▸ Redis 结果/缓存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文档状态机：uploaded → parsed → extracting → extracted → embedding → reviewed → published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1：文件上传与存储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前端 → API → MinIO，SHA-256 去重保证不重复处理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UploadView.vue</a:t>
            </a:r>
            <a:br/>
            <a:r>
              <a:t>支持 PDF/DOCX/MD/TXT</a:t>
            </a:r>
            <a:br/>
            <a:r>
              <a:t>最大 100MB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Content-Type 白名单</a:t>
            </a:r>
            <a:br/>
            <a:r>
              <a:t>文件名安全过滤</a:t>
            </a:r>
            <a:br/>
            <a:r>
              <a:t>目录穿越防护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去重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SHA-256 哈希计算</a:t>
            </a:r>
            <a:br/>
            <a:r>
              <a:t>同文件同空间 → 复用</a:t>
            </a:r>
            <a:br/>
            <a:r>
              <a:t>同文件不同空间 → 新记录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存储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MinIO 对象存储</a:t>
            </a:r>
            <a:br/>
            <a:r>
              <a:t>键格式：files/{id}/{name}</a:t>
            </a:r>
            <a:br/>
            <a:r>
              <a:t>AsyncMinIOClient 异步封装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事件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发布 file_uploaded</a:t>
            </a:r>
            <a:br/>
            <a:r>
              <a:t>→ RabbitMQ</a:t>
            </a:r>
            <a:br/>
            <a:r>
              <a:t>→ knowledge.ingest.queue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documents 表</a:t>
            </a:r>
            <a:br/>
            <a:r>
              <a:t>初始状态：uploaded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POST /api/files/upload</a:t>
            </a:r>
            <a:br/>
            <a:r>
              <a:t>→ file_router.py</a:t>
            </a:r>
            <a:br/>
            <a:r>
              <a:t>→ sanitize + dedup</a:t>
            </a:r>
            <a:br/>
            <a:r>
              <a:t>→ MinIO put_object</a:t>
            </a:r>
            <a:br/>
            <a:r>
              <a:t>→ EventBus.publish("file_uploaded")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2：事件驱动任务调度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RabbitMQ 解耦，Celery 异步执行，长链路自动串联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订阅注册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FastAPI startup 事件</a:t>
            </a:r>
            <a:br/>
            <a:r>
              <a:t>main.py 注册 2 个订阅</a:t>
            </a:r>
            <a:br/>
            <a:r>
              <a:t>event_bus.subscribe()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路由规则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file_uploaded</a:t>
            </a:r>
            <a:br/>
            <a:r>
              <a:t>→ knowledge.ingest.queue</a:t>
            </a:r>
            <a:br/>
            <a:r>
              <a:t>→ run_ingest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路由规则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document_parsed</a:t>
            </a:r>
            <a:br/>
            <a:r>
              <a:t>→ knowledge.extraction.queue</a:t>
            </a:r>
            <a:br/>
            <a:r>
              <a:t>→ run_extraction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Celery 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Broker: RabbitMQ</a:t>
            </a:r>
            <a:br/>
            <a:r>
              <a:t>Result Backend: Redis</a:t>
            </a:r>
            <a:br/>
            <a:r>
              <a:t>5 个专用队列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队列清单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knowledge</a:t>
            </a:r>
            <a:br/>
            <a:r>
              <a:t>knowledge.review</a:t>
            </a:r>
            <a:br/>
            <a:r>
              <a:t>tutorial</a:t>
            </a:r>
            <a:br/>
            <a:r>
              <a:t>blueprint.synthesis</a:t>
            </a:r>
            <a:br/>
            <a:r>
              <a:t>low_priority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超时策略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ingest: 180s soft / 240s hard</a:t>
            </a:r>
            <a:br/>
            <a:r>
              <a:t>extraction: 无限制</a:t>
            </a:r>
            <a:br/>
            <a:r>
              <a:t>review: 600s soft / 720s hard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@event_bus.subscribe("file_uploaded")</a:t>
            </a:r>
            <a:br/>
            <a:r>
              <a:t>async def on_file_uploaded(event):</a:t>
            </a:r>
            <a:br/>
            <a:r>
              <a:t>    run_ingest.delay(event.data)</a:t>
            </a:r>
            <a:br/>
            <a:r>
              <a:t>    logger.info("Dispatched ingest task")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3：文档解析与文本分块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多格式解析引擎 + RecursiveCharacterTextSplitter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PDF 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PyMuPDF (fitz)</a:t>
            </a:r>
            <a:br/>
            <a:r>
              <a:t>按物理页提取文本</a:t>
            </a:r>
            <a:br/>
            <a:r>
              <a:t>TOC 大纲提取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DOCX 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python-docx</a:t>
            </a:r>
            <a:br/>
            <a:r>
              <a:t>段落级提取</a:t>
            </a:r>
            <a:br/>
            <a:r>
              <a:t>保留结构层次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MD/TXT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charset 检测 → 解码</a:t>
            </a:r>
            <a:br/>
            <a:r>
              <a:t>不依赖文件扩展名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文本分块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LangChain Recursive</a:t>
            </a:r>
            <a:br/>
            <a:r>
              <a:t>CharacterTextSplitter</a:t>
            </a:r>
            <a:br/>
            <a:r>
              <a:t>每页独立分块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元数据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index_no / title_path</a:t>
            </a:r>
            <a:br/>
            <a:r>
              <a:t>page_no / token_count</a:t>
            </a:r>
            <a:br/>
            <a:r>
              <a:t>全文搜索友好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截断保护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MAX_CHUNK_COUNT = 500</a:t>
            </a:r>
            <a:br/>
            <a:r>
              <a:t>超出标记 is_truncated</a:t>
            </a:r>
            <a:br/>
            <a:r>
              <a:t>写入 document_chunks 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DocumentIngestService.ingest()</a:t>
            </a:r>
            <a:br/>
            <a:r>
              <a:t>→ minio.download(tmp_path)</a:t>
            </a:r>
            <a:br/>
            <a:r>
              <a:t>→ _extract_pages() per format</a:t>
            </a:r>
            <a:br/>
            <a:r>
              <a:t>→ _split_text() per page</a:t>
            </a:r>
            <a:br/>
            <a:r>
              <a:t>→ batch INSERT chunks (50/batch)</a:t>
            </a:r>
            <a:br/>
            <a:r>
              <a:t>→ status = "parsed"</a:t>
            </a:r>
            <a:br/>
            <a:r>
              <a:t>→ emit "document_parsed"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4：知识提取 — 三步 LLM 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Step 1 实体识别 → Step 2 分类定义 → Step 3 关系抽取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Step 1: 识别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ENTITY_RECOGNITION_PROMPT</a:t>
            </a:r>
            <a:br/>
            <a:r>
              <a:t>从文本提取教学实体</a:t>
            </a:r>
            <a:br/>
            <a:r>
              <a:t>输出实体名称列表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Step 2: 分类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ENTITY_CLASSIFICATION_PROMPT</a:t>
            </a:r>
            <a:br/>
            <a:r>
              <a:t>5 种类别:</a:t>
            </a:r>
            <a:br/>
            <a:r>
              <a:t>concept/element/flow/case/defense</a:t>
            </a:r>
            <a:br/>
            <a:r>
              <a:t>附加 short_definition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Step 3: 关系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RELATION_EXTRACTION_PROMPT</a:t>
            </a:r>
            <a:br/>
            <a:r>
              <a:t>4 种关系:</a:t>
            </a:r>
            <a:br/>
            <a:r>
              <a:t>prerequisite_of/related_to</a:t>
            </a:r>
            <a:br/>
            <a:r>
              <a:t>part_of/example_of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跨块去重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按 entity_name 合并</a:t>
            </a:r>
            <a:br/>
            <a:r>
              <a:t>all_entities 跨块累积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跨文档去重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同 canonical_name</a:t>
            </a:r>
            <a:br/>
            <a:r>
              <a:t>+ 同 domain_tag → 跳过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批量写入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knowledge_entities</a:t>
            </a:r>
            <a:br/>
            <a:r>
              <a:t>review_status = "pending"</a:t>
            </a:r>
            <a:br/>
            <a:r>
              <a:t>knowledge_relations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9435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原子锁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5989319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6035039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UPDATE documents SET</a:t>
            </a:r>
            <a:br/>
            <a:r>
              <a:t>status = "extracting"</a:t>
            </a:r>
            <a:br/>
            <a:r>
              <a:t>WHERE NOT IN(extracting,extracted)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run_extraction(chunk_data)</a:t>
            </a:r>
            <a:br/>
            <a:r>
              <a:t>→ _step_entity_recognition()</a:t>
            </a:r>
            <a:br/>
            <a:r>
              <a:t>→ _step_entity_classification()</a:t>
            </a:r>
            <a:br/>
            <a:r>
              <a:t>→ _step_relation_extraction()</a:t>
            </a:r>
            <a:br/>
            <a:r>
              <a:t>→ cross-chunk dedup</a:t>
            </a:r>
            <a:br/>
            <a:r>
              <a:t>→ INSERT entities + relations</a:t>
            </a:r>
            <a:br/>
            <a:r>
              <a:t>→ status = "extracted"</a:t>
            </a:r>
            <a:br/>
            <a:r>
              <a:t>→ dispatch auto_review_entities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5：AI 自动审核 — 两轮质量把关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保证无实体永久 pending，自动决定 approve/reject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Round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LLM 逐实体评审</a:t>
            </a:r>
            <a:br/>
            <a:r>
              <a:t>输出: approve/reject/uncertain</a:t>
            </a:r>
            <a:br/>
            <a:r>
              <a:t>含 confidence 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裁决规则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approve + confidence ≥ 0.75</a:t>
            </a:r>
            <a:br/>
            <a:r>
              <a:t>→ "approved"</a:t>
            </a:r>
            <a:br/>
            <a:r>
              <a:t>reject → "rejected"</a:t>
            </a:r>
            <a:br/>
            <a:r>
              <a:t>其余 → Round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Round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更严格二次审核</a:t>
            </a:r>
            <a:br/>
            <a:r>
              <a:t>approve + confidence ≥ 0.60</a:t>
            </a:r>
            <a:br/>
            <a:r>
              <a:t>→ "approved"</a:t>
            </a:r>
            <a:br/>
            <a:r>
              <a:t>其余 → "rejected"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并发安全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pg_try_advisory_lock()</a:t>
            </a:r>
            <a:br/>
            <a:r>
              <a:t>空间级锁</a:t>
            </a:r>
            <a:br/>
            <a:r>
              <a:t>5 entity/batch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守护任务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resume_pending_review</a:t>
            </a:r>
            <a:br/>
            <a:r>
              <a:t>每 5 分钟 celery_beat</a:t>
            </a:r>
            <a:br/>
            <a:r>
              <a:t>抢救卡住的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完成动作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→ 文档状态 → "embedding"</a:t>
            </a:r>
            <a:br/>
            <a:r>
              <a:t>→ 触发向量化任务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auto_review_entities(space_id)</a:t>
            </a:r>
            <a:br/>
            <a:r>
              <a:t>→ lock via advisory lock</a:t>
            </a:r>
            <a:br/>
            <a:r>
              <a:t>→ for each entity batch:</a:t>
            </a:r>
            <a:br/>
            <a:r>
              <a:t>    ROUND1_PROMPT → LLM</a:t>
            </a:r>
            <a:br/>
            <a:r>
              <a:t>    分流: approved/rejected/round2</a:t>
            </a:r>
            <a:br/>
            <a:r>
              <a:t>    ROUND2_PROMPT → LLM</a:t>
            </a:r>
            <a:br/>
            <a:r>
              <a:t>→ _finalize_documents()</a:t>
            </a:r>
            <a:br/>
            <a:r>
              <a:t>→ status = "embedding"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6：向量化 — Embedding 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批量向量化 + pgvector 存储 + 相似度检索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嵌入文本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canonical_name + "—"</a:t>
            </a:r>
            <a:br/>
            <a:r>
              <a:t>+ short_definition</a:t>
            </a:r>
            <a:br/>
            <a:r>
              <a:t>截断 512 字符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批量生成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backfill_entity_embeddings</a:t>
            </a:r>
            <a:br/>
            <a:r>
              <a:t>batch_size = 32</a:t>
            </a:r>
            <a:br/>
            <a:r>
              <a:t>LLMGateway.embed()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存储格式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PostgreSQL vector 类型</a:t>
            </a:r>
            <a:br/>
            <a:r>
              <a:t>pgvector 扩展</a:t>
            </a:r>
            <a:br/>
            <a:r>
              <a:t>索引加速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Chunk 向量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embed_document_chunks</a:t>
            </a:r>
            <a:br/>
            <a:r>
              <a:t>并行执行</a:t>
            </a:r>
            <a:br/>
            <a:r>
              <a:t>用于原文相似度搜索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完成检测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_trigger_blueprint_if_ready()</a:t>
            </a:r>
            <a:br/>
            <a:r>
              <a:t>检查无 pending embedding</a:t>
            </a:r>
            <a:br/>
            <a:r>
              <a:t>→ status → "reviewed"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触发合成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→ dispatch</a:t>
            </a:r>
            <a:br/>
            <a:r>
              <a:t>synthesize_blueprint</a:t>
            </a:r>
            <a:br/>
            <a:r>
              <a:t>→ blueprint.synthesis.queue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backfill_entity_embeddings(space_id)</a:t>
            </a:r>
            <a:br/>
            <a:r>
              <a:t>→ SELECT WHERE embedding IS NULL</a:t>
            </a:r>
            <a:br/>
            <a:r>
              <a:t>→ _build_embed_text() per entity</a:t>
            </a:r>
            <a:br/>
            <a:r>
              <a:t>→ batch embed via LLMGateway</a:t>
            </a:r>
            <a:br/>
            <a:r>
              <a:t>→ UPDATE embedding = CAST(:emb AS vector)</a:t>
            </a:r>
            <a:br/>
            <a:r>
              <a:t>→ _trigger_blueprint_if_ready()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7：蓝图/课程生成 — V2 合成引擎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K-Means 聚类 + LLM 多阶段生成 (全新 / 增量合并)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过滤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_is_non_teaching_entity()</a:t>
            </a:r>
            <a:br/>
            <a:r>
              <a:t>过滤 CVE/版本号/厂商名</a:t>
            </a:r>
            <a:br/>
            <a:r>
              <a:t>保留教学价值实体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聚类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K-Means on embedding</a:t>
            </a:r>
            <a:br/>
            <a:r>
              <a:t>K = max(4, round(N/7))</a:t>
            </a:r>
            <a:br/>
            <a:r>
              <a:t>上限 30</a:t>
            </a:r>
            <a:br/>
            <a:r>
              <a:t>+ _rebalance_clusters()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LLM 生成 4 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① _name_cluster() 章节命名</a:t>
            </a:r>
            <a:br/>
            <a:r>
              <a:t>② _plan_stages_with_llm() 阶段规划</a:t>
            </a:r>
            <a:br/>
            <a:r>
              <a:t>③ COURSE_TITLE_PROMPT 课程标题</a:t>
            </a:r>
            <a:br/>
            <a:r>
              <a:t>④ _gen_content() 章节正文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模式 A: 全新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首次生成完整课程</a:t>
            </a:r>
            <a:br/>
            <a:r>
              <a:t>3 阶段 (基础+实践+评估)</a:t>
            </a:r>
            <a:br/>
            <a:r>
              <a:t>每章 600-900 字</a:t>
            </a:r>
            <a:br/>
            <a:r>
              <a:t>结构化: scene_hook +</a:t>
            </a:r>
            <a:br/>
            <a:r>
              <a:t>skim_summary + code_example</a:t>
            </a:r>
            <a:br/>
            <a:r>
              <a:t>+ misconception_block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模式 B: 合并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追加文档到已有课程</a:t>
            </a:r>
            <a:br/>
            <a:r>
              <a:t>余弦相似度差异分析</a:t>
            </a:r>
            <a:br/>
            <a:r>
              <a:t>&gt;0.92 跳过 &lt;0.75 新章</a:t>
            </a:r>
            <a:br/>
            <a:r>
              <a:t>进度自动重映射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author_status = "published"</a:t>
            </a:r>
            <a:br/>
            <a:r>
              <a:t>documents → "published"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synthesize_blueprint()</a:t>
            </a:r>
            <a:br/>
            <a:r>
              <a:t>→ _acquire_or_wait_blueprint_lock()</a:t>
            </a:r>
            <a:br/>
            <a:r>
              <a:t>→ if first: _synthesize_blueprint_v2_async()</a:t>
            </a:r>
            <a:br/>
            <a:r>
              <a:t>   elif merge: _synthesize_blueprint_merge_async()</a:t>
            </a:r>
            <a:br/>
            <a:r>
              <a:t>→ write blueprint + stages + chapters</a:t>
            </a:r>
            <a:br/>
            <a:r>
              <a:t>→ dispatch pregen_chapter_quizzes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8：Layer 1 — 生成前约束 (Teacher Instruction)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教师在上传时指定全局教学约束，影响整个生成链路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输入时机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文件上传时</a:t>
            </a:r>
            <a:br/>
            <a:r>
              <a:t>或课程列表页</a:t>
            </a:r>
            <a:br/>
            <a:r>
              <a:t>"自定义提示词" 输入框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注入位置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写入 skill_blueprints</a:t>
            </a:r>
            <a:br/>
            <a:r>
              <a:t>.teacher_instruction</a:t>
            </a:r>
            <a:br/>
            <a:r>
              <a:t>在所有 LLM Prompt 中拼接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影响范围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章节标题生成</a:t>
            </a:r>
            <a:br/>
            <a:r>
              <a:t>内容风格控制</a:t>
            </a:r>
            <a:br/>
            <a:r>
              <a:t>难度 / 受众适配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示例指令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"增加实操案例，弱化理论推导"</a:t>
            </a:r>
            <a:br/>
            <a:r>
              <a:t>"适配中职三年级基础水平"</a:t>
            </a:r>
            <a:br/>
            <a:r>
              <a:t>"加入航空维修安全规范"</a:t>
            </a:r>
            <a:br/>
            <a:r>
              <a:t>"用 Java 代替 Python 示例"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存储字段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teacher_instruction TEXT</a:t>
            </a:r>
            <a:br/>
            <a:r>
              <a:t>version 字段关联</a:t>
            </a:r>
            <a:br/>
            <a:r>
              <a:t>每个蓝图版本独立记录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联动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Layer 2 精调可覆盖/</a:t>
            </a:r>
            <a:br/>
            <a:r>
              <a:t>补充 Layer 1 约束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if teacher_instruction:</a:t>
            </a:r>
            <a:br/>
            <a:r>
              <a:t>    prompt += f"""</a:t>
            </a:r>
            <a:br/>
            <a:r>
              <a:t>    教学约束提示：</a:t>
            </a:r>
            <a:br/>
            <a:r>
              <a:t>    {teacher_instruction}</a:t>
            </a:r>
            <a:br/>
            <a:r>
              <a:t>    """</a:t>
            </a:r>
            <a:br/>
            <a:r>
              <a:t>蓝图生成时注入 CLUSTER_CHAPTER_PROMPT</a:t>
            </a:r>
            <a:br/>
            <a:r>
              <a:t>和 CHAPTER_CONTENT_PROMPT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9：学生学习与交互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三种阅读模式 + 测验反思 + 社交学习 + 证书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阅读模式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① 速览: skim_summary 要点</a:t>
            </a:r>
            <a:br/>
            <a:r>
              <a:t>② 正常: 完整正文</a:t>
            </a:r>
            <a:br/>
            <a:r>
              <a:t>③ 深度: + prereq_adaptive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内容结构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scene_hook 场景导入</a:t>
            </a:r>
            <a:br/>
            <a:r>
              <a:t>full_content 正文</a:t>
            </a:r>
            <a:br/>
            <a:r>
              <a:t>CHECKPOINT 交互断点</a:t>
            </a:r>
            <a:br/>
            <a:r>
              <a:t>code_example 代码示例</a:t>
            </a:r>
            <a:br/>
            <a:r>
              <a:t>misconception_block 误区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测验系统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/chapter-quiz/{id}</a:t>
            </a:r>
            <a:br/>
            <a:r>
              <a:t>随机抽题</a:t>
            </a:r>
            <a:br/>
            <a:r>
              <a:t>≥ 60% 自动标记已读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AI 反思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学生写理解总结</a:t>
            </a:r>
            <a:br/>
            <a:r>
              <a:t>LLM 评分反馈</a:t>
            </a:r>
            <a:br/>
            <a:r>
              <a:t>一对一批改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社交笔记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每章独立笔记区</a:t>
            </a:r>
            <a:br/>
            <a:r>
              <a:t>点赞互动</a:t>
            </a:r>
            <a:br/>
            <a:r>
              <a:t>同伴学习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源文档追溯</a:t>
            </a:r>
            <a:br/>
            <a:r>
              <a:t>关联推荐</a:t>
            </a:r>
            <a:br/>
            <a:r>
              <a:t>证书下载 (全部已读)</a:t>
            </a:r>
            <a:br/>
            <a:r>
              <a:t>蓝图更新订阅通知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TutorialView.vue</a:t>
            </a:r>
            <a:br/>
            <a:r>
              <a:t>→ loadTutorial() 加载课程</a:t>
            </a:r>
            <a:br/>
            <a:r>
              <a:t>→ chapterContent computed 解析</a:t>
            </a:r>
            <a:br/>
            <a:r>
              <a:t>→ contentSegments 切分 CHECKPOINT</a:t>
            </a:r>
            <a:br/>
            <a:r>
              <a:t>→ quiz / reflection / notes</a:t>
            </a:r>
            <a:br/>
            <a:r>
              <a:t>→ markChapterRead()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阶段 10：Layer 2+3 — 教师精调与联动再生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自然语言指令 → 章节重写 → 测验/讨论联动更新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精调入口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6304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TutorialView 章节标题旁</a:t>
            </a:r>
            <a:br/>
            <a:r>
              <a:t>"✨ 精调本章" 按钮</a:t>
            </a:r>
            <a:br/>
            <a:r>
              <a:t>ElMessageBox textarea</a:t>
            </a:r>
            <a:br/>
            <a:r>
              <a:t>自然语言描述要求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后端处理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7180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读取当前章节元数据</a:t>
            </a:r>
            <a:br/>
            <a:r>
              <a:t>构建 CHAPTER_REFINEMENT_PROMPT</a:t>
            </a:r>
            <a:br/>
            <a:r>
              <a:t>含当前内容摘要</a:t>
            </a:r>
            <a:br/>
            <a:r>
              <a:t>+ teacher_instruction</a:t>
            </a:r>
            <a:br/>
            <a:r>
              <a:t>+ 全局约束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LLM 调用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4480560"/>
            <a:ext cx="438912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route: tutorial_content</a:t>
            </a:r>
            <a:br/>
            <a:r>
              <a:t>timeout: 150s</a:t>
            </a:r>
            <a:br/>
            <a:r>
              <a:t>生成新章节完整内容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Layer 3 联动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508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① 测验缓存失效</a:t>
            </a:r>
            <a:br/>
            <a:r>
              <a:t>② regenerate_chapter_quiz</a:t>
            </a:r>
            <a:br/>
            <a:r>
              <a:t>    重新生成题目</a:t>
            </a:r>
            <a:br/>
            <a:r>
              <a:t>③ generate_discussion_seeds</a:t>
            </a:r>
            <a:br/>
            <a:r>
              <a:t>    可选讨论种子生成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版本管理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7180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refinement_version + 1</a:t>
            </a:r>
            <a:br/>
            <a:r>
              <a:t>保留精调历史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鉴权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480560"/>
            <a:ext cx="4663440" cy="1325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5262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require_space_owner()</a:t>
            </a:r>
            <a:br/>
            <a:r>
              <a:t>仅课程所有者可用</a:t>
            </a:r>
            <a:br/>
            <a:r>
              <a:t>非系统管理员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Microsoft YaHei"/>
              </a:defRPr>
            </a:pPr>
            <a:r>
              <a:t>POST /admin/courses/chapters/{id}/refine</a:t>
            </a:r>
            <a:br/>
            <a:r>
              <a:t>→ get_current_user</a:t>
            </a:r>
            <a:br/>
            <a:r>
              <a:t>→ require_space_owner(space_id)</a:t>
            </a:r>
            <a:br/>
            <a:r>
              <a:t>→ build CHAPTER_REFINEMENT_PROMPT</a:t>
            </a:r>
            <a:br/>
            <a:r>
              <a:t>→ LLM generate</a:t>
            </a:r>
            <a:br/>
            <a:r>
              <a:t>→ update_chapter_content()</a:t>
            </a:r>
            <a:br/>
            <a:r>
              <a:t>→ invalidate_quiz + regenerate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文档状态机 &amp; 事件链路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46304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uploaded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run_ingest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11680" y="2240280"/>
            <a:ext cx="164592" cy="1371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828800"/>
            <a:ext cx="146304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parsed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run_extraction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39312" y="2240280"/>
            <a:ext cx="164592" cy="1371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03904" y="1828800"/>
            <a:ext cx="146304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extracting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原子锁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66944" y="2240280"/>
            <a:ext cx="164592" cy="1371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31536" y="1828800"/>
            <a:ext cx="146304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extracted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6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auto_review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94576" y="2240280"/>
            <a:ext cx="164592" cy="1371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9168" y="1828800"/>
            <a:ext cx="146304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backfill_embed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22208" y="2240280"/>
            <a:ext cx="164592" cy="1371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1828800"/>
            <a:ext cx="146304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reviewed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synthesize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149840" y="2240280"/>
            <a:ext cx="164592" cy="1371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14432" y="1828800"/>
            <a:ext cx="146304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05872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published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Microsoft YaHei"/>
              </a:defRPr>
            </a:pPr>
            <a:r>
              <a:t>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RabbitMQ 事件链路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23360"/>
            <a:ext cx="41148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069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icrosoft YaHei"/>
              </a:defRPr>
            </a:pPr>
            <a:r>
              <a:t>事件: file_uploaded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846320" y="4087368"/>
            <a:ext cx="18288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069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→ knowledge.ingest.queue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26280"/>
            <a:ext cx="41148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572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icrosoft YaHei"/>
              </a:defRPr>
            </a:pPr>
            <a:r>
              <a:t>事件: document_parsed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846320" y="4590288"/>
            <a:ext cx="18288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→ knowledge.extraction.queue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029200"/>
            <a:ext cx="41148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074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  <a:latin typeface="Microsoft YaHei"/>
              </a:defRPr>
            </a:pPr>
            <a:r>
              <a:t>事件: entities_reviewed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846320" y="5093208"/>
            <a:ext cx="18288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5074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→ (内部调用)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532120"/>
            <a:ext cx="41148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577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  <a:latin typeface="Microsoft YaHei"/>
              </a:defRPr>
            </a:pPr>
            <a:r>
              <a:t>事件: embeddings_complete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846320" y="5596128"/>
            <a:ext cx="18288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5577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→ (内部调用)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6035040"/>
            <a:ext cx="41148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080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Microsoft YaHei"/>
              </a:defRPr>
            </a:pPr>
            <a:r>
              <a:t>事件: blueprint_published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846320" y="6099048"/>
            <a:ext cx="182880" cy="18288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→ blueprint.notify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教师引导式迭代 — 三层方案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0040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Layer 1: 生成前约束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22860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上传时输入全局教学约束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注入所有 LLM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控制风格/难度/受众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103120" y="4572000"/>
            <a:ext cx="182880" cy="182880"/>
          </a:xfrm>
          <a:prstGeom prst="down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463040"/>
            <a:ext cx="3200400" cy="5486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Layer 2: 对话式精调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103120"/>
            <a:ext cx="3200400" cy="22860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自然语言指令重写章节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✨ 精调本章 按钮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5661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保留 refinement_version 历史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52159" y="4572000"/>
            <a:ext cx="182880" cy="182880"/>
          </a:xfrm>
          <a:prstGeom prst="down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20040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Layer 3: 附属内容联动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103120"/>
            <a:ext cx="3200400" cy="22860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测验自动重新生成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讨论种子可选更新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5661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✓ 缓存自动失效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Microsoft YaHei"/>
              </a:defRPr>
            </a:pPr>
            <a:r>
              <a:t>鉴权模型 (v2.8.0 修复)：课程管理使用 require_space_owner() — 仅课程所有者（教师）可用，</a:t>
            </a:r>
            <a:br/>
            <a:r>
              <a:t>系统管理员 (admin 角色) 管理的是 AI 配置、用户管理、权限控制等系统级功能。</a:t>
            </a:r>
            <a:br/>
            <a:r>
              <a:t>管理端点：POST /admin/courses/chapters/{id}/refine（精调）、regen、reorder、delete、transfer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技术栈一览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182880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Vue 3 + TypeScript</a:t>
            </a:r>
            <a:br/>
            <a:r>
              <a:t>Vite</a:t>
            </a:r>
            <a:br/>
            <a:r>
              <a:t>Element Plus</a:t>
            </a:r>
            <a:br/>
            <a:r>
              <a:t>Pinia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920240"/>
            <a:ext cx="182880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FastAPI</a:t>
            </a:r>
            <a:br/>
            <a:r>
              <a:t>Pydantic v2</a:t>
            </a:r>
            <a:br/>
            <a:r>
              <a:t>Uvicorn</a:t>
            </a:r>
            <a:br/>
            <a:r>
              <a:t>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182880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Celery</a:t>
            </a:r>
            <a:br/>
            <a:r>
              <a:t>RabbitMQ</a:t>
            </a:r>
            <a:br/>
            <a:r>
              <a:t>Redis</a:t>
            </a:r>
            <a:br/>
            <a:r>
              <a:t>EventBus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182880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LangChain</a:t>
            </a:r>
            <a:br/>
            <a:r>
              <a:t>LLMGateway</a:t>
            </a:r>
            <a:br/>
            <a:r>
              <a:t>PyMuPDF</a:t>
            </a:r>
            <a:br/>
            <a:r>
              <a:t>python-docx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182880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PostgreSQL</a:t>
            </a:r>
            <a:br/>
            <a:r>
              <a:t>pgvector</a:t>
            </a:r>
            <a:br/>
            <a:r>
              <a:t>SQLAlchemy 2.0</a:t>
            </a:r>
            <a:br/>
            <a:r>
              <a:t>Alembic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存储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60" y="1920240"/>
            <a:ext cx="182880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MinIO (S3)</a:t>
            </a:r>
            <a:br/>
            <a:r>
              <a:t>boto3</a:t>
            </a:r>
            <a:br/>
            <a:r>
              <a:t>Docker</a:t>
            </a:r>
            <a:br/>
            <a:r>
              <a:t>Docker 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项目规模指标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数据库迁移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Microsoft YaHei"/>
              </a:defRPr>
            </a:pPr>
            <a:r>
              <a:t>144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Docker 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流水线阶段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Celery 队列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教师迭代层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StudyStudio DS  ·  v2.8.0  ·  全异步 AI 驱动课程生成系统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Microsoft YaHei"/>
              </a:defRPr>
            </a:pPr>
            <a:r>
              <a:t>devdocs/course_creation_flow/ — PPT · Markdown · AI 提示词 · 视频脚本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